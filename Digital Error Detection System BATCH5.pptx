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tel:2620030472" TargetMode="External"/><Relationship Id="rId3" Type="http://schemas.openxmlformats.org/officeDocument/2006/relationships/image" Target="../media/image2.png"/><Relationship Id="rId7" Type="http://schemas.openxmlformats.org/officeDocument/2006/relationships/hyperlink" Target="tel:262003046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tel:2620030528" TargetMode="External"/><Relationship Id="rId4" Type="http://schemas.openxmlformats.org/officeDocument/2006/relationships/image" Target="../media/image3.png"/><Relationship Id="rId9" Type="http://schemas.openxmlformats.org/officeDocument/2006/relationships/hyperlink" Target="tel:262003051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7.png"/><Relationship Id="rId10" Type="http://schemas.openxmlformats.org/officeDocument/2006/relationships/image" Target="../media/image8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064" y="1177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0" y="20078004"/>
            <a:ext cx="11125200" cy="145464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15100"/>
            <a:ext cx="2124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475" y="6515100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 of 12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" y="457200"/>
            <a:ext cx="2500312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23875"/>
            <a:ext cx="128587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914400"/>
            <a:ext cx="11658600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0" i="0" u="none" dirty="0">
                <a:solidFill>
                  <a:srgbClr val="F1F5F9"/>
                </a:solidFill>
                <a:latin typeface="Poppins ExtraBold"/>
              </a:rPr>
              <a:t>Design &amp; Simulation of a Digital Error Detection System Using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063055"/>
            <a:ext cx="857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 comprehensive logic design study on parity generation, transmission error checking, and XOR-based verification using Logisim.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5610225"/>
            <a:ext cx="3448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525" y="5610225"/>
            <a:ext cx="3448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DEPARTMENT &amp; 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525" y="5819775"/>
            <a:ext cx="3448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F1F5F9"/>
                </a:solidFill>
                <a:latin typeface="Inter SemiBold"/>
              </a:rPr>
              <a:t>Dept. of Computer Science &amp; Eng.</a:t>
            </a:r>
            <a:r>
              <a:rPr dirty="0"/>
              <a:t>
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Academic Year 2</a:t>
            </a:r>
            <a:r>
              <a:rPr lang="en-IN" sz="1050" b="0" i="0" u="none" dirty="0">
                <a:solidFill>
                  <a:srgbClr val="94A3B8"/>
                </a:solidFill>
                <a:latin typeface="Inter"/>
              </a:rPr>
              <a:t>026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A62E6547-8CE1-4FAB-AC48-F69F7B256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06" y="5428424"/>
            <a:ext cx="51879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        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Likhita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2620030468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</a:t>
            </a:r>
            <a:r>
              <a:rPr kumimoji="0" lang="en-US" altLang="en-US" sz="12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Dheeraj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2620030472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Rupesh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2620030517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Druveen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2620030528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33587"/>
            <a:ext cx="5395912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15100"/>
            <a:ext cx="2505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Design &amp; Simulation of Error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414587"/>
            <a:ext cx="51292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Digital Data Integrity: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High-speed data transmission across physical communication channels is highly susceptible to noise, attenuation, and electromagnetic interference.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14687"/>
            <a:ext cx="51292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Parity Error Detection: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Parity bit generation is a standard, lightweight method used to identify single-bit flips by maintaining odd or even logic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014787"/>
            <a:ext cx="51292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Implementation Objective: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Design a robust combinational circuit using cascaded XOR gates to compute parity at transmission and verify consistency at reception.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81488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Logisim Validation: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Practical schematic modeling and interactive switch simulation to verify real-time error detection flags.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2043112"/>
            <a:ext cx="5376862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Abstract &amp;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33637"/>
            <a:ext cx="76200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33737"/>
            <a:ext cx="7620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33837"/>
            <a:ext cx="762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833937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286250"/>
            <a:ext cx="11125200" cy="1123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76475"/>
            <a:ext cx="5395912" cy="177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276475"/>
            <a:ext cx="5395912" cy="1771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1790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Communication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3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514600"/>
            <a:ext cx="5165645" cy="2857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Communication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895600"/>
            <a:ext cx="491966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During digital transmission, transient pulses or signal crosstalk can alter binary bits (</a:t>
            </a:r>
            <a:r>
              <a:rPr sz="1200" b="0" i="0" u="none">
                <a:solidFill>
                  <a:srgbClr val="38BDF8"/>
                </a:solidFill>
                <a:latin typeface="Inter SemiBold"/>
              </a:rPr>
              <a:t>0 to 1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or </a:t>
            </a:r>
            <a:r>
              <a:rPr sz="1200" b="0" i="0" u="none">
                <a:solidFill>
                  <a:srgbClr val="38BDF8"/>
                </a:solidFill>
                <a:latin typeface="Inter SemiBold"/>
              </a:rPr>
              <a:t>1 to 0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). Without error detection, corrupt commands or corrupted memory streams degrade system reliability.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812" y="2514600"/>
            <a:ext cx="5165645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Redundant Bit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895600"/>
            <a:ext cx="49196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Error detection appends extra </a:t>
            </a:r>
            <a:r>
              <a:rPr sz="1200" b="0" i="0" u="none">
                <a:solidFill>
                  <a:srgbClr val="38BDF8"/>
                </a:solidFill>
                <a:latin typeface="Inter SemiBold"/>
              </a:rPr>
              <a:t>redundant bits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to the payload. These extra bits carry zero user data but enable the receiver's combinational logic to validate message authenticity.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562225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2" y="256222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Introduction to Error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43162"/>
            <a:ext cx="5395912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43162"/>
            <a:ext cx="5395912" cy="2800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2" y="3062287"/>
            <a:ext cx="4919662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2" y="4090987"/>
            <a:ext cx="4919662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15100"/>
            <a:ext cx="2181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Hardware Error Detection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0900" y="65151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4 of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681287"/>
            <a:ext cx="5165645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The Technical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062287"/>
            <a:ext cx="49196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As microprocessors push to higher clock frequencies, transmission line noise increases. Software-based error checking introduces unacceptable CPU overhead.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681287"/>
            <a:ext cx="5165645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Visual Data Comparison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728912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225" y="3890962"/>
            <a:ext cx="46529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Manual or delayed software verification causes system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233862"/>
            <a:ext cx="46529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Hardware must evaluate bit integrity in </a:t>
            </a:r>
            <a:r>
              <a:rPr sz="1200" b="0" i="0" u="none">
                <a:solidFill>
                  <a:srgbClr val="38BDF8"/>
                </a:solidFill>
                <a:latin typeface="Inter SemiBold"/>
              </a:rPr>
              <a:t>nanoseconds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576762"/>
            <a:ext cx="46529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Need for a minimal gate-count combinational error detector.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2728912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4637" y="3224212"/>
            <a:ext cx="1409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ADE80"/>
                </a:solidFill>
                <a:latin typeface="Inter"/>
              </a:rPr>
              <a:t>TRANSMITTED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637" y="3376612"/>
            <a:ext cx="467201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monospace"/>
              </a:rPr>
              <a:t>1 0 1 0 </a:t>
            </a:r>
            <a:r>
              <a:rPr sz="1500" b="1" i="0" u="none">
                <a:solidFill>
                  <a:srgbClr val="4ADE80"/>
                </a:solidFill>
                <a:latin typeface="monospace"/>
              </a:rPr>
              <a:t>[P=0]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4637" y="3709987"/>
            <a:ext cx="18192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Even Parity: Total 1s = 2 (Even State)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4637" y="4252912"/>
            <a:ext cx="1876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Inter"/>
              </a:rPr>
              <a:t>CORRUPTED RECEIVED PAYLOAD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4637" y="4405312"/>
            <a:ext cx="467201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monospace"/>
              </a:rPr>
              <a:t>1 </a:t>
            </a:r>
            <a:r>
              <a:rPr sz="1500" b="1" i="0" u="none">
                <a:solidFill>
                  <a:srgbClr val="F87171"/>
                </a:solidFill>
                <a:latin typeface="monospace"/>
              </a:rPr>
              <a:t>1</a:t>
            </a:r>
            <a:r>
              <a:rPr sz="1500" b="1" i="0" u="none">
                <a:solidFill>
                  <a:srgbClr val="FFFFFF"/>
                </a:solidFill>
                <a:latin typeface="monospace"/>
              </a:rPr>
              <a:t> 1 0 </a:t>
            </a:r>
            <a:r>
              <a:rPr sz="1500" b="1" i="0" u="none">
                <a:solidFill>
                  <a:srgbClr val="F87171"/>
                </a:solidFill>
                <a:latin typeface="monospace"/>
              </a:rPr>
              <a:t>[P=0]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4637" y="4738687"/>
            <a:ext cx="30384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Single Bit Flip: Total 1s = 3 (Odd State) → ERROR DETECTED!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Problem Statement &amp; Channel Noise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910012"/>
            <a:ext cx="762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252912"/>
            <a:ext cx="762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595812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71637"/>
            <a:ext cx="3581400" cy="2076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671637"/>
            <a:ext cx="3581400" cy="2076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671637"/>
            <a:ext cx="3581400" cy="2076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938587"/>
            <a:ext cx="3581400" cy="2076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3938587"/>
            <a:ext cx="3581400" cy="2076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3938587"/>
            <a:ext cx="3581400" cy="2076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515100"/>
            <a:ext cx="112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Core Project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5 of 12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871662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3425" y="238601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Circuit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286226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Design a 4-bit data stream parity generator and receiver checker circuit using optimized logic gates.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25" y="1871662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5325" y="238601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Even / Odd Parity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325" y="286226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Formulate and implement Boolean parity logic equations based on XOR/XNOR gate cascade structures.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225" y="1871662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7225" y="238601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Single-Bit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7225" y="286226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Ensure reliable detection of single-bit transmission corruption before data reaches memory buses.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4138612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3425" y="465296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Logisim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512921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Construct the complete digital system schematic in Logisim software to simulate operational conditions.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5325" y="4138612"/>
            <a:ext cx="419100" cy="419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05325" y="465296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Test Vector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5325" y="512921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Verify system logic across all $2^n$ binary input combinations to demonstrate total reliability.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7225" y="4138612"/>
            <a:ext cx="419100" cy="4191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7225" y="4652962"/>
            <a:ext cx="334041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Academic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7225" y="5129212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Establish practical insights into error detection protocols vital for DDCA hardware coursework.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437" y="1985962"/>
            <a:ext cx="2190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9625" y="1985962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91525" y="1985962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912" y="4252912"/>
            <a:ext cx="23812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9625" y="4252912"/>
            <a:ext cx="1905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7712" y="4252912"/>
            <a:ext cx="238125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Project Objectives &amp;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47925"/>
            <a:ext cx="1112520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24300"/>
            <a:ext cx="1112520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15100"/>
            <a:ext cx="1685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Methodology &amp; Modular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6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162425"/>
            <a:ext cx="11181397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Stage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43425"/>
            <a:ext cx="10648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input stream undergoes parity calculation in the generator block before transmission. At the receiving terminal, the 5-bit bundle enters an identical XOR network. Any discrepancy between computed and received parity trips the error output state.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21005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System Methodology &amp;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06973"/>
            <a:ext cx="5395912" cy="68222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15100"/>
            <a:ext cx="1381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Boolean Logic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7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425898"/>
            <a:ext cx="5665708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XOR Gate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806898"/>
            <a:ext cx="53959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Exclusive-OR (XOR) gate serves as a modulo-2 adder. It produces a </a:t>
            </a:r>
            <a:r>
              <a:rPr sz="1200" b="0" i="0" u="none">
                <a:solidFill>
                  <a:srgbClr val="38BDF8"/>
                </a:solidFill>
                <a:latin typeface="Inter SemiBold"/>
              </a:rPr>
              <a:t>HIGH (1)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output if and only if the number of HIGH inputs is odd.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2687" y="2828925"/>
            <a:ext cx="5395912" cy="20288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2687" y="2828925"/>
          <a:ext cx="5386385" cy="2028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Output (A ⊕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Parity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Even (0 ones)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Odd (1 one)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Odd (1 one)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Even (2 ones)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73523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7225" y="3530798"/>
            <a:ext cx="51482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Even Parity Bit Equation: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232076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Even Parity: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Parity bit $P$ is chosen to make total count of 1s in $(Data + P)$ even.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803576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Odd Parity: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Parity bit $P$ is chosen to make total count of 1s in $(Data + P)$ odd.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7450" y="3243262"/>
            <a:ext cx="10630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30529" y="3243262"/>
            <a:ext cx="10437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74260" y="3243262"/>
            <a:ext cx="17009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75217" y="3243262"/>
            <a:ext cx="15786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802260"/>
            <a:ext cx="1826269" cy="16311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67450" y="3643312"/>
            <a:ext cx="10630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30529" y="3643312"/>
            <a:ext cx="10437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74260" y="3643312"/>
            <a:ext cx="17009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75217" y="3643312"/>
            <a:ext cx="15786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7450" y="4043362"/>
            <a:ext cx="10630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30529" y="4043362"/>
            <a:ext cx="10437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74260" y="4043362"/>
            <a:ext cx="17009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75217" y="4043362"/>
            <a:ext cx="15786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7450" y="4443412"/>
            <a:ext cx="10630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30529" y="4443412"/>
            <a:ext cx="10437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74260" y="4443412"/>
            <a:ext cx="17009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75217" y="4443412"/>
            <a:ext cx="15786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7450" y="4843462"/>
            <a:ext cx="10630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30529" y="4843462"/>
            <a:ext cx="10437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74260" y="4843462"/>
            <a:ext cx="17009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75217" y="4843462"/>
            <a:ext cx="15786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Working Principle &amp; XOR Logic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251126"/>
            <a:ext cx="762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822626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33587"/>
            <a:ext cx="5395912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15100"/>
            <a:ext cx="16764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Hardware Schematic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8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281237"/>
            <a:ext cx="5665708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Logic Subsystems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328862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266223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4-Bit Input Line: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Connects data switches ($D_3, D_2, D_1, D_0$) directly to the generator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23373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Parity Generator: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Cascaded 2-input XOR gates (IC 7486) synthesize parity bit $P$.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80523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Transmission Bus: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Transmits 5 parallel lines ($D_3, D_2, D_1, D_0, P$) to the receiver.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37673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Parity Checker: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 5-input XOR tree calculates total modulo-2 parity state $E$.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948237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Error Indicator: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Output $E = 0$ keeps LED OFF (Valid Data); $E = 1$ triggers LED ON (Corruption).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212" y="2043112"/>
            <a:ext cx="5376862" cy="3600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Hardware Circuit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81287"/>
            <a:ext cx="762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52787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824287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395787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967287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33587"/>
            <a:ext cx="5395912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12506"/>
            <a:ext cx="2626518" cy="576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793" y="4812506"/>
            <a:ext cx="2626518" cy="576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1657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Logisim Simulation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0425" y="6515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9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7906"/>
            <a:ext cx="5665708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Simulation Features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45531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" y="2678906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Interactive Pin Switches: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Toggle bits dynamically to simulate live data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50406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Fault Injection: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Noise buttons simulate transmission bit flips along channel wires.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21906"/>
            <a:ext cx="51292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Visual Status Indicators: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Probe components display logic levels ($0/1$) at intermediate XOR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393406"/>
            <a:ext cx="51292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LED Output Probe: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Instantly alerts user upon parity mismatch.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212" y="2043112"/>
            <a:ext cx="5376862" cy="3600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07568" y="5126831"/>
            <a:ext cx="2416968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Single-Bit Error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Logisim Simulation Environment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697956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269456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840956"/>
            <a:ext cx="762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412456"/>
            <a:ext cx="76200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9471" y="4945856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ADE80"/>
                </a:solidFill>
                <a:latin typeface="Inter"/>
              </a:rPr>
              <a:t>LED OFF (0)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" y="5126831"/>
            <a:ext cx="2416968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No Transmission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728" y="4945856"/>
            <a:ext cx="628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7171"/>
                </a:solidFill>
                <a:latin typeface="Inter"/>
              </a:rPr>
              <a:t>LED ON (1)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672012"/>
            <a:ext cx="11125200" cy="847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166937"/>
            <a:ext cx="11125200" cy="23145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10344"/>
              </p:ext>
            </p:extLst>
          </p:nvPr>
        </p:nvGraphicFramePr>
        <p:xfrm>
          <a:off x="533400" y="2166937"/>
          <a:ext cx="11115672" cy="231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9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Input Data ($D_3 D_2 D_1 D_0$)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Generated Parity ($P$)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Transmitted Packet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Received Packet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Error Output ($E$)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0 1 0 0 (Unchanged)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1 1 0 0 0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1 0 0 0 (Unchanged)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1 0 1 0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1 0 1 0 0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</a:t>
                      </a:r>
                      <a:r>
                        <a:rPr sz="1050" b="1" i="0" u="none">
                          <a:solidFill>
                            <a:srgbClr val="F87171"/>
                          </a:solidFill>
                          <a:latin typeface="Inter"/>
                        </a:rPr>
                        <a:t>0 0 0</a:t>
                      </a:r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 0 (Bit Flip)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2000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1 1 1 0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1 1 1 0 1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0 </a:t>
                      </a:r>
                      <a:r>
                        <a:rPr sz="1050" b="1" i="0" u="none">
                          <a:solidFill>
                            <a:srgbClr val="F87171"/>
                          </a:solidFill>
                          <a:latin typeface="Inter"/>
                        </a:rPr>
                        <a:t>1 1 0</a:t>
                      </a:r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 1 (MSB Flip)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2000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515100"/>
            <a:ext cx="1990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Experimental Truth Table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3275" y="6515100"/>
            <a:ext cx="695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10 of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8162" y="2562225"/>
            <a:ext cx="24751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13323" y="2562225"/>
            <a:ext cx="19349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48237" y="2562225"/>
            <a:ext cx="16981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46366" y="2562225"/>
            <a:ext cx="1821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68022" y="2562225"/>
            <a:ext cx="16363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104387" y="2562225"/>
            <a:ext cx="15494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525" y="4910137"/>
            <a:ext cx="10648950" cy="3714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Verification Summary: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The Logisim model successfully verified all $2^4 = 16$ test vectors. In all single-bit error scenarios, the receiver output line $E$ switched HIGH instantly, validating the combinational circuit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8162" y="3038475"/>
            <a:ext cx="24751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3323" y="3038475"/>
            <a:ext cx="19349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48237" y="3038475"/>
            <a:ext cx="16981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46366" y="3038475"/>
            <a:ext cx="1821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68022" y="3038475"/>
            <a:ext cx="16363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04387" y="3038475"/>
            <a:ext cx="15494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8162" y="3514725"/>
            <a:ext cx="24751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13323" y="3514725"/>
            <a:ext cx="19349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48237" y="3514725"/>
            <a:ext cx="16981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46366" y="3514725"/>
            <a:ext cx="1821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68022" y="3514725"/>
            <a:ext cx="16363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04387" y="3514725"/>
            <a:ext cx="15494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8162" y="3990975"/>
            <a:ext cx="24751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13323" y="3990975"/>
            <a:ext cx="19349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48237" y="3990975"/>
            <a:ext cx="16981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46366" y="3990975"/>
            <a:ext cx="1821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68022" y="3990975"/>
            <a:ext cx="16363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04387" y="3990975"/>
            <a:ext cx="15494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8162" y="4467225"/>
            <a:ext cx="24751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013323" y="4467225"/>
            <a:ext cx="19349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948237" y="4467225"/>
            <a:ext cx="16981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646366" y="4467225"/>
            <a:ext cx="1821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468022" y="4467225"/>
            <a:ext cx="16363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04387" y="4467225"/>
            <a:ext cx="15494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938712"/>
            <a:ext cx="123825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61" y="2681287"/>
            <a:ext cx="800100" cy="2381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0837" y="3157537"/>
            <a:ext cx="800100" cy="2381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478" y="3640072"/>
            <a:ext cx="1123950" cy="2381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7287" y="4100511"/>
            <a:ext cx="1123950" cy="2381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562" y="3709987"/>
            <a:ext cx="85725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562" y="2757487"/>
            <a:ext cx="104775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562" y="3233737"/>
            <a:ext cx="104775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562" y="4186237"/>
            <a:ext cx="85725" cy="114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562" y="2757487"/>
            <a:ext cx="104775" cy="1143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562" y="3233737"/>
            <a:ext cx="104775" cy="1143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562" y="3709987"/>
            <a:ext cx="85725" cy="1143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1562" y="4186237"/>
            <a:ext cx="85725" cy="1143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Simulation Results &amp; Verification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05087"/>
            <a:ext cx="358140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605087"/>
            <a:ext cx="358140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605087"/>
            <a:ext cx="3581400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1828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Trade-Offs &amp; Application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850" y="6515100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11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862262"/>
            <a:ext cx="3260407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ADE80"/>
                </a:solidFill>
                <a:latin typeface="Poppins SemiBold"/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3425" y="2862262"/>
            <a:ext cx="3260407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7171"/>
                </a:solidFill>
                <a:latin typeface="Poppins SemiBold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2862262"/>
            <a:ext cx="3260407" cy="2857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Practical Uses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909887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225" y="3243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Minimal hardware complexity (uses standard IC 7486 XOR gates).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8147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Extremely low propagation delay and high processing speed.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386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Zero computational overhead on system processor.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5" y="2909887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10125" y="3243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Detects only single-bit or odd numbers of bit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0125" y="38147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Cannot locate exact corrupt bit 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0125" y="4386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Cannot perform error correction (requires retransmission).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2909887"/>
            <a:ext cx="23812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82025" y="3243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Serial protocols (UART / RS-232 communication).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2025" y="38147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Computer memory subsystems (Parity RAM / L1 Cache).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2025" y="4386262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Bus transmissions in Embedded Microcontrollers.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Advantages, Limitations &amp; Uses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262312"/>
            <a:ext cx="762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833812"/>
            <a:ext cx="762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405312"/>
            <a:ext cx="762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3262312"/>
            <a:ext cx="76200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3833812"/>
            <a:ext cx="76200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4405312"/>
            <a:ext cx="76200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3262312"/>
            <a:ext cx="76200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3833812"/>
            <a:ext cx="76200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4405312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660106"/>
            <a:ext cx="11125200" cy="1062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64531"/>
            <a:ext cx="5395912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964531"/>
            <a:ext cx="5395912" cy="2457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10325"/>
            <a:ext cx="111252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15100"/>
            <a:ext cx="2038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DDCA Academic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5100"/>
            <a:ext cx="685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12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297" y="4860131"/>
            <a:ext cx="109551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F8FAFC"/>
                </a:solidFill>
                <a:latin typeface="Poppi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202656"/>
            <a:ext cx="5165645" cy="28575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202656"/>
            <a:ext cx="5165645" cy="2857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Poppins SemiBold"/>
              </a:rPr>
              <a:t>Future Enhancements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250281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225" y="25836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Parity generation provides a fast, economical solution for single-bit transmission error detection.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1551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Cascaded XOR gate networks implement parity generation and checking with minimal gate 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7266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Logisim simulation proved $100\%$ detection accuracy for single-bit faults across test vectors.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2" y="2250281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7512" y="25836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Hamming Code Integration: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Expand to 7-bit Hamming code for single-bit error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7512" y="31551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Cyclic Redundancy Check (CRC):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Implement polynomial division for multi-bit burst error checking.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7512" y="3726656"/>
            <a:ext cx="46529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Inter SemiBold"/>
              </a:rPr>
              <a:t>FPGA / Hardware Prototype: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Synthesize the design onto a Xilinx/Intel FPGA 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38150"/>
            <a:ext cx="11658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3400" y="1028700"/>
            <a:ext cx="95250" cy="266700"/>
          </a:xfrm>
          <a:prstGeom prst="roundRect">
            <a:avLst>
              <a:gd name="adj" fmla="val 4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602706"/>
            <a:ext cx="7620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174206"/>
            <a:ext cx="7620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745706"/>
            <a:ext cx="76200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2602706"/>
            <a:ext cx="762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174206"/>
            <a:ext cx="762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812" y="3745706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1261</Words>
  <Application>Microsoft Office PowerPoint</Application>
  <PresentationFormat>Widescreen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Inter</vt:lpstr>
      <vt:lpstr>Inter SemiBold</vt:lpstr>
      <vt:lpstr>monospace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Likhita J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2026-09-11T08:43:59Z</dcterms:modified>
  <cp:category/>
</cp:coreProperties>
</file>